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Nunito"/>
      <p:regular r:id="rId17"/>
      <p:bold r:id="rId18"/>
      <p:italic r:id="rId19"/>
      <p:boldItalic r:id="rId20"/>
    </p:embeddedFont>
    <p:embeddedFont>
      <p:font typeface="Maven Pro"/>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boldItalic.fntdata"/><Relationship Id="rId11" Type="http://schemas.openxmlformats.org/officeDocument/2006/relationships/slide" Target="slides/slide6.xml"/><Relationship Id="rId22" Type="http://schemas.openxmlformats.org/officeDocument/2006/relationships/font" Target="fonts/MavenPro-bold.fntdata"/><Relationship Id="rId10" Type="http://schemas.openxmlformats.org/officeDocument/2006/relationships/slide" Target="slides/slide5.xml"/><Relationship Id="rId21" Type="http://schemas.openxmlformats.org/officeDocument/2006/relationships/font" Target="fonts/MavenPro-regular.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Nunito-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Nunito-italic.fntdata"/><Relationship Id="rId6" Type="http://schemas.openxmlformats.org/officeDocument/2006/relationships/slide" Target="slides/slide1.xml"/><Relationship Id="rId18" Type="http://schemas.openxmlformats.org/officeDocument/2006/relationships/font" Target="fonts/Nunit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a5ca8ab591_0_10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2a5ca8ab591_0_10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Theses are the links that all data </a:t>
            </a:r>
            <a:r>
              <a:rPr lang="en" sz="1600"/>
              <a:t>calculations</a:t>
            </a:r>
            <a:r>
              <a:rPr lang="en" sz="1600"/>
              <a:t> and references were based on</a:t>
            </a:r>
            <a:endParaRPr sz="16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a5ca8ab591_0_10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a5ca8ab591_0_10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The dataset used in this analysis is sourced from Kaggle and contains information about clients with potential credit fraud. </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 sz="1500"/>
              <a:t>It comprises 122 variables, a mix of binomial and categorical, and was last updated four years ago. </a:t>
            </a:r>
            <a:endParaRPr sz="15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a5ca8ab591_0_10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a5ca8ab591_0_10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solidFill>
                  <a:schemeClr val="dk1"/>
                </a:solidFill>
              </a:rPr>
              <a:t>Our exploration aims to answer: are females at a higher risk of defaulting on loans? </a:t>
            </a:r>
            <a:endParaRPr sz="1500">
              <a:solidFill>
                <a:schemeClr val="dk1"/>
              </a:solidFill>
            </a:endParaRPr>
          </a:p>
          <a:p>
            <a:pPr indent="0" lvl="0" marL="0" rtl="0" algn="l">
              <a:spcBef>
                <a:spcPts val="0"/>
              </a:spcBef>
              <a:spcAft>
                <a:spcPts val="0"/>
              </a:spcAft>
              <a:buClr>
                <a:schemeClr val="dk1"/>
              </a:buClr>
              <a:buSzPts val="1100"/>
              <a:buFont typeface="Arial"/>
              <a:buNone/>
            </a:pPr>
            <a:r>
              <a:t/>
            </a:r>
            <a:endParaRPr sz="1500">
              <a:solidFill>
                <a:schemeClr val="dk1"/>
              </a:solidFill>
            </a:endParaRPr>
          </a:p>
          <a:p>
            <a:pPr indent="0" lvl="0" marL="0" rtl="0" algn="l">
              <a:spcBef>
                <a:spcPts val="0"/>
              </a:spcBef>
              <a:spcAft>
                <a:spcPts val="0"/>
              </a:spcAft>
              <a:buClr>
                <a:schemeClr val="dk1"/>
              </a:buClr>
              <a:buSzPts val="1100"/>
              <a:buFont typeface="Arial"/>
              <a:buNone/>
            </a:pPr>
            <a:r>
              <a:rPr lang="en" sz="1500">
                <a:solidFill>
                  <a:schemeClr val="dk1"/>
                </a:solidFill>
              </a:rPr>
              <a:t>Moreover, we investigate whether gender significantly influences the likelihood of defaulting when controlling for other key factors.</a:t>
            </a:r>
            <a:endParaRPr sz="15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a5ca8ab591_0_10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2a5ca8ab591_0_10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Based upon Figure 1(top left) , most of the data collected shows that the vast majority of responses in Target are negative for default detection.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This means that most of the clients, based upon the data, collected may not be subject to defaulting and that further analysis utilizing Target will be a good response variable viable.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Next, we graph the distribution of Gender (male or female) to observe the split between genders collected and reported defaults. Based upon Figure 2(bottom right) , we can say that about twice the amount of clients reported to be females versus males had no reported default. However, from further observation, we can see that females have a slightly higher count than males for reported default.</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For the continuing graphs please note that we created a variable to better reference the expected desired results. In our R code we created the </a:t>
            </a:r>
            <a:r>
              <a:rPr lang="en" sz="1600"/>
              <a:t>variable TargetYes to verify all future factorizations of Target are the same.</a:t>
            </a:r>
            <a:endParaRPr sz="16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a5ca8ab591_0_1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2a5ca8ab591_0_1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Figure 3, the graph on the left shows the total income. We had some large outliers, which didn’t make sense. They may have been entered incorrectly or some other type of error. We decided to remove these.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Removing any data exceeding an income of 1,000,000 would keep our data from having errors or excessive outliers. We will set a maximum income value of 1,000,000 to clean our data.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As can be seen in Figure 3(on the left), the data comparing total income and the amount of defaults reported by gender, we can see that females typically show a pattern of having more reported defaults than males do; however, females also appear to have more data overall, so </a:t>
            </a:r>
            <a:r>
              <a:rPr lang="en" sz="1600">
                <a:solidFill>
                  <a:schemeClr val="dk1"/>
                </a:solidFill>
              </a:rPr>
              <a:t>this graph alone is not enough to provide enough evidence to support our research statement.</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It is interesting to note that figure 3 has a bit of a bimodal distribution.</a:t>
            </a:r>
            <a:endParaRPr sz="1600"/>
          </a:p>
          <a:p>
            <a:pPr indent="0" lvl="0" marL="0" rtl="0" algn="l">
              <a:spcBef>
                <a:spcPts val="0"/>
              </a:spcBef>
              <a:spcAft>
                <a:spcPts val="0"/>
              </a:spcAft>
              <a:buNone/>
            </a:pPr>
            <a:r>
              <a:t/>
            </a:r>
            <a:endParaRPr sz="1600"/>
          </a:p>
          <a:p>
            <a:pPr indent="0" lvl="0" marL="0" rtl="0" algn="l">
              <a:spcBef>
                <a:spcPts val="0"/>
              </a:spcBef>
              <a:spcAft>
                <a:spcPts val="0"/>
              </a:spcAft>
              <a:buClr>
                <a:schemeClr val="dk1"/>
              </a:buClr>
              <a:buSzPts val="1100"/>
              <a:buFont typeface="Arial"/>
              <a:buNone/>
            </a:pPr>
            <a:r>
              <a:rPr lang="en" sz="1600">
                <a:solidFill>
                  <a:schemeClr val="dk1"/>
                </a:solidFill>
              </a:rPr>
              <a:t>We can also observe that the distribution of total income by sex are both right skewed and follow similar distributions amongst the X and Y axis.</a:t>
            </a:r>
            <a:endParaRPr sz="1600">
              <a:solidFill>
                <a:schemeClr val="dk1"/>
              </a:solidFill>
            </a:endParaRPr>
          </a:p>
          <a:p>
            <a:pPr indent="0" lvl="0" marL="0" rtl="0" algn="l">
              <a:spcBef>
                <a:spcPts val="0"/>
              </a:spcBef>
              <a:spcAft>
                <a:spcPts val="0"/>
              </a:spcAft>
              <a:buNone/>
            </a:pPr>
            <a:r>
              <a:t/>
            </a:r>
            <a:endParaRPr sz="1600"/>
          </a:p>
          <a:p>
            <a:pPr indent="0" lvl="0" marL="0" rtl="0" algn="l">
              <a:spcBef>
                <a:spcPts val="0"/>
              </a:spcBef>
              <a:spcAft>
                <a:spcPts val="0"/>
              </a:spcAft>
              <a:buNone/>
            </a:pPr>
            <a:r>
              <a:rPr lang="en" sz="1600"/>
              <a:t>Comparing the graphs for Total Income(Figure 3) and Credit amount(Figure 4), the graphs seem to be very similar. </a:t>
            </a:r>
            <a:endParaRPr sz="16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a5ca8ab591_0_1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2a5ca8ab591_0_1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Upon further analysis, we have found that males have higher income on average in each respective quarterly, as can be seen in Figure 5(top left).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Income doesn't appear to be a very strong predictor for determining if a client defaulted or not. The data doesn’t appear to be very different upon comparing total income and credit amount (between males and females regarding if they have reported default or not).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Credit amount may not be a strong predictor for determining if a client defaulted or not. This could be because the credit amount given is not sex-dependent, so males and females receive credit at the same rate based on their income.</a:t>
            </a:r>
            <a:endParaRPr sz="16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a5ca8ab591_0_1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2a5ca8ab591_0_1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a5ca8ab591_0_1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2a5ca8ab591_0_1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Two logistic regression models were employed in the statistical analysis: the full model and the reduced model.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The full model included predictors such as total income (AMT_INCOME_TOTAL), credit amount (AMT_CREDIT), income type (NAME_INCOME_TYPE), and gender (CODE_GENDERM).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The reduced model excluded the gender variable, encompassing total income, credit amount, and income type as predictors.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a5ca8ab591_0_1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2a5ca8ab591_0_1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600"/>
              <a:t>Moving on to model interpretation, the logistic regression output revealed insightful parameter estimates. </a:t>
            </a:r>
            <a:endParaRPr sz="1600"/>
          </a:p>
          <a:p>
            <a:pPr indent="0" lvl="0" marL="0" rtl="0" algn="l">
              <a:lnSpc>
                <a:spcPct val="115000"/>
              </a:lnSpc>
              <a:spcBef>
                <a:spcPts val="1200"/>
              </a:spcBef>
              <a:spcAft>
                <a:spcPts val="0"/>
              </a:spcAft>
              <a:buNone/>
            </a:pPr>
            <a:r>
              <a:t/>
            </a:r>
            <a:endParaRPr sz="1600"/>
          </a:p>
          <a:p>
            <a:pPr indent="0" lvl="0" marL="0" rtl="0" algn="l">
              <a:lnSpc>
                <a:spcPct val="115000"/>
              </a:lnSpc>
              <a:spcBef>
                <a:spcPts val="1200"/>
              </a:spcBef>
              <a:spcAft>
                <a:spcPts val="0"/>
              </a:spcAft>
              <a:buNone/>
            </a:pPr>
            <a:r>
              <a:rPr lang="en" sz="1600"/>
              <a:t>The coefficient for gender (CODE_GENDERM) was 0.3868 with a standard error of 0.01391. This positive coefficient indicates that being male is associated with an increase in the log odds of credit default. The other predictors, such as total income (AMT_INCOME_TOTAL) and credit amount (AMT_CREDIT), demonstrated negative coefficients, suggesting a negative relationship with the log odds of default. </a:t>
            </a:r>
            <a:endParaRPr sz="1600"/>
          </a:p>
          <a:p>
            <a:pPr indent="0" lvl="0" marL="0" rtl="0" algn="l">
              <a:lnSpc>
                <a:spcPct val="115000"/>
              </a:lnSpc>
              <a:spcBef>
                <a:spcPts val="1200"/>
              </a:spcBef>
              <a:spcAft>
                <a:spcPts val="0"/>
              </a:spcAft>
              <a:buNone/>
            </a:pPr>
            <a:r>
              <a:t/>
            </a:r>
            <a:endParaRPr sz="1600"/>
          </a:p>
          <a:p>
            <a:pPr indent="0" lvl="0" marL="0" rtl="0" algn="l">
              <a:lnSpc>
                <a:spcPct val="115000"/>
              </a:lnSpc>
              <a:spcBef>
                <a:spcPts val="1200"/>
              </a:spcBef>
              <a:spcAft>
                <a:spcPts val="0"/>
              </a:spcAft>
              <a:buClr>
                <a:schemeClr val="dk1"/>
              </a:buClr>
              <a:buSzPts val="1100"/>
              <a:buFont typeface="Arial"/>
              <a:buNone/>
            </a:pPr>
            <a:r>
              <a:rPr lang="en" sz="1600"/>
              <a:t>These interpretations align with our expectations: higher income and credit amounts are associated with a lower likelihood of credit defaults.</a:t>
            </a:r>
            <a:endParaRPr sz="1600"/>
          </a:p>
          <a:p>
            <a:pPr indent="0" lvl="0" marL="0" rtl="0" algn="l">
              <a:lnSpc>
                <a:spcPct val="115000"/>
              </a:lnSpc>
              <a:spcBef>
                <a:spcPts val="1200"/>
              </a:spcBef>
              <a:spcAft>
                <a:spcPts val="0"/>
              </a:spcAft>
              <a:buNone/>
            </a:pPr>
            <a:r>
              <a:rPr lang="en" sz="1600"/>
              <a:t>In conclusion, the final logistic regression model, incorporating gender alongside other key predictors, emerges as a robust framework for predicting credit fraud. </a:t>
            </a:r>
            <a:endParaRPr sz="1600"/>
          </a:p>
          <a:p>
            <a:pPr indent="0" lvl="0" marL="0" rtl="0" algn="l">
              <a:lnSpc>
                <a:spcPct val="115000"/>
              </a:lnSpc>
              <a:spcBef>
                <a:spcPts val="1200"/>
              </a:spcBef>
              <a:spcAft>
                <a:spcPts val="0"/>
              </a:spcAft>
              <a:buNone/>
            </a:pPr>
            <a:r>
              <a:rPr lang="en" sz="1600"/>
              <a:t>The variables selected proved to be significant contributors, with gender playing a noteworthy role. Therefore, we can assert that, when controlling for total income, credit amount, and income type, gender remains a crucial factor in determining the likelihood of credit defaults. </a:t>
            </a:r>
            <a:endParaRPr sz="1600"/>
          </a:p>
          <a:p>
            <a:pPr indent="0" lvl="0" marL="0" rtl="0" algn="l">
              <a:lnSpc>
                <a:spcPct val="115000"/>
              </a:lnSpc>
              <a:spcBef>
                <a:spcPts val="1200"/>
              </a:spcBef>
              <a:spcAft>
                <a:spcPts val="0"/>
              </a:spcAft>
              <a:buClr>
                <a:schemeClr val="dk1"/>
              </a:buClr>
              <a:buSzPts val="1100"/>
              <a:buFont typeface="Arial"/>
              <a:buNone/>
            </a:pPr>
            <a:r>
              <a:rPr lang="en" sz="1600"/>
              <a:t>This analysis contributes valuable insights to the ongoing discourse on credit risk assessment, emphasizing the need to consider gender dynamics in predicting and managing credit fraud.</a:t>
            </a:r>
            <a:endParaRPr sz="1600"/>
          </a:p>
          <a:p>
            <a:pPr indent="0" lvl="0" marL="0" rtl="0" algn="l">
              <a:spcBef>
                <a:spcPts val="1200"/>
              </a:spcBef>
              <a:spcAft>
                <a:spcPts val="0"/>
              </a:spcAft>
              <a:buNone/>
            </a:pPr>
            <a:r>
              <a:t/>
            </a:r>
            <a:endParaRPr sz="16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a5ca8ab591_0_1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a5ca8ab591_0_1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The drop-in-deviance test was employed to assess the contribution of the gender variable and a value of 756.44 was calculated. Along with its p-value of &lt; 2.2e-16 there was compelling evidence to reject the null hypothesis. </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lang="en" sz="1600">
                <a:solidFill>
                  <a:schemeClr val="dk1"/>
                </a:solidFill>
              </a:rPr>
              <a:t>This rejection affirmed the importance of gender in predicting credit defaults and we will use the model with the variable for gender. </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lang="en" sz="1600">
                <a:solidFill>
                  <a:schemeClr val="dk1"/>
                </a:solidFill>
              </a:rPr>
              <a:t>Additionally, the backward selection method confirmed the significance of all predictors in the model, further reinforcing the comprehensive nature of the chosen variables.</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263b3e0c26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263b3e0c26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t>Looking at our model, we can see that the gender being male is positive. This means that the gender being female is a negative predictor. A negative predictor lowers our Target value, which represents the likelihood of a client defaulting or not. If someone is female, they have a lower likelihood of defaulting on a payment.</a:t>
            </a:r>
            <a:endParaRPr sz="1600"/>
          </a:p>
          <a:p>
            <a:pPr indent="0" lvl="0" marL="0" rtl="0" algn="l">
              <a:spcBef>
                <a:spcPts val="0"/>
              </a:spcBef>
              <a:spcAft>
                <a:spcPts val="0"/>
              </a:spcAft>
              <a:buClr>
                <a:schemeClr val="dk1"/>
              </a:buClr>
              <a:buSzPts val="1100"/>
              <a:buFont typeface="Arial"/>
              <a:buNone/>
            </a:pPr>
            <a:r>
              <a:t/>
            </a:r>
            <a:endParaRPr sz="1600"/>
          </a:p>
          <a:p>
            <a:pPr indent="0" lvl="0" marL="0" rtl="0" algn="l">
              <a:spcBef>
                <a:spcPts val="0"/>
              </a:spcBef>
              <a:spcAft>
                <a:spcPts val="0"/>
              </a:spcAft>
              <a:buClr>
                <a:schemeClr val="dk1"/>
              </a:buClr>
              <a:buSzPts val="1100"/>
              <a:buFont typeface="Arial"/>
              <a:buNone/>
            </a:pPr>
            <a:r>
              <a:rPr lang="en" sz="1600"/>
              <a:t>We are 95% confidence that for CODE_GENDERM (Male), the defaults will increase by between 1.431200 and 1.511436, assuming all other variables are controlled in this model. Males have a greater odds of defaulting compared to females.</a:t>
            </a:r>
            <a:endParaRPr sz="1600"/>
          </a:p>
          <a:p>
            <a:pPr indent="0" lvl="0" marL="0" rtl="0" algn="l">
              <a:spcBef>
                <a:spcPts val="0"/>
              </a:spcBef>
              <a:spcAft>
                <a:spcPts val="0"/>
              </a:spcAft>
              <a:buNone/>
            </a:pPr>
            <a:r>
              <a:t/>
            </a:r>
            <a:endParaRPr sz="16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85600" y="315800"/>
            <a:ext cx="73728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Data: </a:t>
            </a:r>
            <a:r>
              <a:rPr lang="en" sz="2588"/>
              <a:t>The data presented provides information about a client with potential credit fraud</a:t>
            </a:r>
            <a:endParaRPr sz="2588"/>
          </a:p>
        </p:txBody>
      </p:sp>
      <p:sp>
        <p:nvSpPr>
          <p:cNvPr id="278" name="Google Shape;278;p13"/>
          <p:cNvSpPr txBox="1"/>
          <p:nvPr>
            <p:ph idx="1" type="subTitle"/>
          </p:nvPr>
        </p:nvSpPr>
        <p:spPr>
          <a:xfrm>
            <a:off x="982750" y="2326300"/>
            <a:ext cx="5245500" cy="1367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https://www.kaggle.com/datasets/mishra5001/credit-card/data?select=application_data.csv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https://www.kaggle.com/datasets/mishra5001/credit-card/data?select=columns_description.csv </a:t>
            </a:r>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ctrTitle"/>
          </p:nvPr>
        </p:nvSpPr>
        <p:spPr>
          <a:xfrm>
            <a:off x="443000" y="375563"/>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Variable </a:t>
            </a:r>
            <a:r>
              <a:rPr lang="en"/>
              <a:t>Descriptions</a:t>
            </a:r>
            <a:r>
              <a:rPr lang="en"/>
              <a:t>: </a:t>
            </a:r>
            <a:endParaRPr/>
          </a:p>
        </p:txBody>
      </p:sp>
      <p:sp>
        <p:nvSpPr>
          <p:cNvPr id="284" name="Google Shape;284;p14"/>
          <p:cNvSpPr txBox="1"/>
          <p:nvPr>
            <p:ph idx="1" type="subTitle"/>
          </p:nvPr>
        </p:nvSpPr>
        <p:spPr>
          <a:xfrm>
            <a:off x="443000" y="1948575"/>
            <a:ext cx="8552700" cy="30723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SzPts val="688"/>
              <a:buNone/>
            </a:pPr>
            <a:r>
              <a:rPr lang="en"/>
              <a:t>TARGET: client with reported payment difficulties (this variable will represent credit fraud if</a:t>
            </a:r>
            <a:endParaRPr/>
          </a:p>
          <a:p>
            <a:pPr indent="0" lvl="0" marL="0" rtl="0" algn="l">
              <a:lnSpc>
                <a:spcPct val="80000"/>
              </a:lnSpc>
              <a:spcBef>
                <a:spcPts val="0"/>
              </a:spcBef>
              <a:spcAft>
                <a:spcPts val="0"/>
              </a:spcAft>
              <a:buSzPts val="688"/>
              <a:buNone/>
            </a:pPr>
            <a:r>
              <a:rPr lang="en"/>
              <a:t>positive)</a:t>
            </a:r>
            <a:endParaRPr/>
          </a:p>
          <a:p>
            <a:pPr indent="0" lvl="0" marL="0" rtl="0" algn="l">
              <a:lnSpc>
                <a:spcPct val="80000"/>
              </a:lnSpc>
              <a:spcBef>
                <a:spcPts val="0"/>
              </a:spcBef>
              <a:spcAft>
                <a:spcPts val="0"/>
              </a:spcAft>
              <a:buSzPts val="688"/>
              <a:buNone/>
            </a:pPr>
            <a:r>
              <a:t/>
            </a:r>
            <a:endParaRPr/>
          </a:p>
          <a:p>
            <a:pPr indent="0" lvl="0" marL="0" rtl="0" algn="l">
              <a:lnSpc>
                <a:spcPct val="80000"/>
              </a:lnSpc>
              <a:spcBef>
                <a:spcPts val="0"/>
              </a:spcBef>
              <a:spcAft>
                <a:spcPts val="0"/>
              </a:spcAft>
              <a:buSzPts val="688"/>
              <a:buNone/>
            </a:pPr>
            <a:r>
              <a:rPr lang="en"/>
              <a:t>CODE_GENDER: Gender of the client</a:t>
            </a:r>
            <a:endParaRPr/>
          </a:p>
          <a:p>
            <a:pPr indent="0" lvl="0" marL="0" rtl="0" algn="l">
              <a:lnSpc>
                <a:spcPct val="80000"/>
              </a:lnSpc>
              <a:spcBef>
                <a:spcPts val="0"/>
              </a:spcBef>
              <a:spcAft>
                <a:spcPts val="0"/>
              </a:spcAft>
              <a:buSzPts val="688"/>
              <a:buNone/>
            </a:pPr>
            <a:r>
              <a:t/>
            </a:r>
            <a:endParaRPr/>
          </a:p>
          <a:p>
            <a:pPr indent="0" lvl="0" marL="0" rtl="0" algn="l">
              <a:lnSpc>
                <a:spcPct val="80000"/>
              </a:lnSpc>
              <a:spcBef>
                <a:spcPts val="0"/>
              </a:spcBef>
              <a:spcAft>
                <a:spcPts val="0"/>
              </a:spcAft>
              <a:buSzPts val="688"/>
              <a:buNone/>
            </a:pPr>
            <a:r>
              <a:rPr lang="en"/>
              <a:t>AMT_INCOME_TOTAL: Income of the client</a:t>
            </a:r>
            <a:endParaRPr/>
          </a:p>
          <a:p>
            <a:pPr indent="0" lvl="0" marL="0" rtl="0" algn="l">
              <a:lnSpc>
                <a:spcPct val="80000"/>
              </a:lnSpc>
              <a:spcBef>
                <a:spcPts val="0"/>
              </a:spcBef>
              <a:spcAft>
                <a:spcPts val="0"/>
              </a:spcAft>
              <a:buSzPts val="688"/>
              <a:buNone/>
            </a:pPr>
            <a:r>
              <a:t/>
            </a:r>
            <a:endParaRPr/>
          </a:p>
          <a:p>
            <a:pPr indent="0" lvl="0" marL="0" rtl="0" algn="l">
              <a:lnSpc>
                <a:spcPct val="80000"/>
              </a:lnSpc>
              <a:spcBef>
                <a:spcPts val="0"/>
              </a:spcBef>
              <a:spcAft>
                <a:spcPts val="0"/>
              </a:spcAft>
              <a:buSzPts val="688"/>
              <a:buNone/>
            </a:pPr>
            <a:r>
              <a:rPr lang="en"/>
              <a:t>AMT_CREDIT: Credit amount of the loan</a:t>
            </a:r>
            <a:endParaRPr/>
          </a:p>
          <a:p>
            <a:pPr indent="0" lvl="0" marL="0" rtl="0" algn="l">
              <a:lnSpc>
                <a:spcPct val="80000"/>
              </a:lnSpc>
              <a:spcBef>
                <a:spcPts val="0"/>
              </a:spcBef>
              <a:spcAft>
                <a:spcPts val="0"/>
              </a:spcAft>
              <a:buSzPts val="688"/>
              <a:buNone/>
            </a:pPr>
            <a:r>
              <a:t/>
            </a:r>
            <a:endParaRPr/>
          </a:p>
          <a:p>
            <a:pPr indent="0" lvl="0" marL="0" rtl="0" algn="l">
              <a:lnSpc>
                <a:spcPct val="80000"/>
              </a:lnSpc>
              <a:spcBef>
                <a:spcPts val="0"/>
              </a:spcBef>
              <a:spcAft>
                <a:spcPts val="0"/>
              </a:spcAft>
              <a:buSzPts val="688"/>
              <a:buNone/>
            </a:pPr>
            <a:r>
              <a:rPr lang="en"/>
              <a:t>NAME_CLIENT_TYPE: Was the client old or new when applying for the previous application</a:t>
            </a:r>
            <a:endParaRPr/>
          </a:p>
          <a:p>
            <a:pPr indent="0" lvl="0" marL="0" rtl="0" algn="l">
              <a:lnSpc>
                <a:spcPct val="80000"/>
              </a:lnSpc>
              <a:spcBef>
                <a:spcPts val="0"/>
              </a:spcBef>
              <a:spcAft>
                <a:spcPts val="0"/>
              </a:spcAft>
              <a:buSzPts val="688"/>
              <a:buNone/>
            </a:pPr>
            <a:r>
              <a:t/>
            </a:r>
            <a:endParaRPr/>
          </a:p>
          <a:p>
            <a:pPr indent="0" lvl="0" marL="0" rtl="0" algn="l">
              <a:lnSpc>
                <a:spcPct val="80000"/>
              </a:lnSpc>
              <a:spcBef>
                <a:spcPts val="0"/>
              </a:spcBef>
              <a:spcAft>
                <a:spcPts val="0"/>
              </a:spcAft>
              <a:buSzPts val="688"/>
              <a:buNone/>
            </a:pPr>
            <a:r>
              <a:t/>
            </a:r>
            <a:endParaRPr/>
          </a:p>
          <a:p>
            <a:pPr indent="0" lvl="0" marL="0" rtl="0" algn="l">
              <a:lnSpc>
                <a:spcPct val="80000"/>
              </a:lnSpc>
              <a:spcBef>
                <a:spcPts val="0"/>
              </a:spcBef>
              <a:spcAft>
                <a:spcPts val="0"/>
              </a:spcAft>
              <a:buSzPts val="688"/>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5"/>
          <p:cNvSpPr txBox="1"/>
          <p:nvPr>
            <p:ph type="ctrTitle"/>
          </p:nvPr>
        </p:nvSpPr>
        <p:spPr>
          <a:xfrm>
            <a:off x="767975" y="595962"/>
            <a:ext cx="6565800" cy="3621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Research Question for Data Analysis: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1700"/>
              <a:t>Are females at a higher risk of defaulting on loans? Does Gender have an effect on the likelihood of defaulting when controlling for their total income, credit loans, and client status for credit applications.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6"/>
          <p:cNvSpPr txBox="1"/>
          <p:nvPr/>
        </p:nvSpPr>
        <p:spPr>
          <a:xfrm>
            <a:off x="647450" y="547850"/>
            <a:ext cx="5378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sp>
        <p:nvSpPr>
          <p:cNvPr id="295" name="Google Shape;295;p16"/>
          <p:cNvSpPr txBox="1"/>
          <p:nvPr/>
        </p:nvSpPr>
        <p:spPr>
          <a:xfrm>
            <a:off x="4195975" y="1154825"/>
            <a:ext cx="4955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pic>
        <p:nvPicPr>
          <p:cNvPr id="296" name="Google Shape;296;p16"/>
          <p:cNvPicPr preferRelativeResize="0"/>
          <p:nvPr/>
        </p:nvPicPr>
        <p:blipFill>
          <a:blip r:embed="rId3">
            <a:alphaModFix/>
          </a:blip>
          <a:stretch>
            <a:fillRect/>
          </a:stretch>
        </p:blipFill>
        <p:spPr>
          <a:xfrm>
            <a:off x="355125" y="282000"/>
            <a:ext cx="3787425" cy="2343075"/>
          </a:xfrm>
          <a:prstGeom prst="rect">
            <a:avLst/>
          </a:prstGeom>
          <a:noFill/>
          <a:ln>
            <a:noFill/>
          </a:ln>
        </p:spPr>
      </p:pic>
      <p:pic>
        <p:nvPicPr>
          <p:cNvPr id="297" name="Google Shape;297;p16"/>
          <p:cNvPicPr preferRelativeResize="0"/>
          <p:nvPr/>
        </p:nvPicPr>
        <p:blipFill>
          <a:blip r:embed="rId4">
            <a:alphaModFix/>
          </a:blip>
          <a:stretch>
            <a:fillRect/>
          </a:stretch>
        </p:blipFill>
        <p:spPr>
          <a:xfrm>
            <a:off x="4782825" y="2625075"/>
            <a:ext cx="4044350" cy="2289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17"/>
          <p:cNvSpPr txBox="1"/>
          <p:nvPr/>
        </p:nvSpPr>
        <p:spPr>
          <a:xfrm>
            <a:off x="956675" y="597400"/>
            <a:ext cx="6526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pic>
        <p:nvPicPr>
          <p:cNvPr id="303" name="Google Shape;303;p17"/>
          <p:cNvPicPr preferRelativeResize="0"/>
          <p:nvPr/>
        </p:nvPicPr>
        <p:blipFill>
          <a:blip r:embed="rId3">
            <a:alphaModFix/>
          </a:blip>
          <a:stretch>
            <a:fillRect/>
          </a:stretch>
        </p:blipFill>
        <p:spPr>
          <a:xfrm>
            <a:off x="304800" y="508050"/>
            <a:ext cx="8839203" cy="1014145"/>
          </a:xfrm>
          <a:prstGeom prst="rect">
            <a:avLst/>
          </a:prstGeom>
          <a:noFill/>
          <a:ln>
            <a:noFill/>
          </a:ln>
        </p:spPr>
      </p:pic>
      <p:sp>
        <p:nvSpPr>
          <p:cNvPr id="304" name="Google Shape;304;p17"/>
          <p:cNvSpPr txBox="1"/>
          <p:nvPr/>
        </p:nvSpPr>
        <p:spPr>
          <a:xfrm>
            <a:off x="781225" y="1863225"/>
            <a:ext cx="6526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sp>
        <p:nvSpPr>
          <p:cNvPr id="305" name="Google Shape;305;p17"/>
          <p:cNvSpPr txBox="1"/>
          <p:nvPr/>
        </p:nvSpPr>
        <p:spPr>
          <a:xfrm>
            <a:off x="5355725" y="2377075"/>
            <a:ext cx="3805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pic>
        <p:nvPicPr>
          <p:cNvPr id="306" name="Google Shape;306;p17"/>
          <p:cNvPicPr preferRelativeResize="0"/>
          <p:nvPr/>
        </p:nvPicPr>
        <p:blipFill>
          <a:blip r:embed="rId4">
            <a:alphaModFix/>
          </a:blip>
          <a:stretch>
            <a:fillRect/>
          </a:stretch>
        </p:blipFill>
        <p:spPr>
          <a:xfrm>
            <a:off x="364950" y="1863225"/>
            <a:ext cx="4033225" cy="2546850"/>
          </a:xfrm>
          <a:prstGeom prst="rect">
            <a:avLst/>
          </a:prstGeom>
          <a:noFill/>
          <a:ln>
            <a:noFill/>
          </a:ln>
        </p:spPr>
      </p:pic>
      <p:pic>
        <p:nvPicPr>
          <p:cNvPr id="307" name="Google Shape;307;p17"/>
          <p:cNvPicPr preferRelativeResize="0"/>
          <p:nvPr/>
        </p:nvPicPr>
        <p:blipFill>
          <a:blip r:embed="rId5">
            <a:alphaModFix/>
          </a:blip>
          <a:stretch>
            <a:fillRect/>
          </a:stretch>
        </p:blipFill>
        <p:spPr>
          <a:xfrm>
            <a:off x="4514300" y="1863225"/>
            <a:ext cx="4270199" cy="2546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18"/>
          <p:cNvSpPr txBox="1"/>
          <p:nvPr/>
        </p:nvSpPr>
        <p:spPr>
          <a:xfrm>
            <a:off x="931600" y="421950"/>
            <a:ext cx="6526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sp>
        <p:nvSpPr>
          <p:cNvPr id="313" name="Google Shape;313;p18"/>
          <p:cNvSpPr txBox="1"/>
          <p:nvPr/>
        </p:nvSpPr>
        <p:spPr>
          <a:xfrm>
            <a:off x="4929600" y="1850700"/>
            <a:ext cx="4232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pic>
        <p:nvPicPr>
          <p:cNvPr id="314" name="Google Shape;314;p18"/>
          <p:cNvPicPr preferRelativeResize="0"/>
          <p:nvPr/>
        </p:nvPicPr>
        <p:blipFill>
          <a:blip r:embed="rId3">
            <a:alphaModFix/>
          </a:blip>
          <a:stretch>
            <a:fillRect/>
          </a:stretch>
        </p:blipFill>
        <p:spPr>
          <a:xfrm>
            <a:off x="387175" y="304800"/>
            <a:ext cx="3808725" cy="2083200"/>
          </a:xfrm>
          <a:prstGeom prst="rect">
            <a:avLst/>
          </a:prstGeom>
          <a:noFill/>
          <a:ln>
            <a:noFill/>
          </a:ln>
        </p:spPr>
      </p:pic>
      <p:pic>
        <p:nvPicPr>
          <p:cNvPr id="315" name="Google Shape;315;p18"/>
          <p:cNvPicPr preferRelativeResize="0"/>
          <p:nvPr/>
        </p:nvPicPr>
        <p:blipFill>
          <a:blip r:embed="rId4">
            <a:alphaModFix/>
          </a:blip>
          <a:stretch>
            <a:fillRect/>
          </a:stretch>
        </p:blipFill>
        <p:spPr>
          <a:xfrm>
            <a:off x="4686775" y="2388000"/>
            <a:ext cx="4108400" cy="2450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19"/>
          <p:cNvSpPr txBox="1"/>
          <p:nvPr/>
        </p:nvSpPr>
        <p:spPr>
          <a:xfrm>
            <a:off x="1094550" y="609925"/>
            <a:ext cx="6526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pic>
        <p:nvPicPr>
          <p:cNvPr id="321" name="Google Shape;321;p19"/>
          <p:cNvPicPr preferRelativeResize="0"/>
          <p:nvPr/>
        </p:nvPicPr>
        <p:blipFill>
          <a:blip r:embed="rId3">
            <a:alphaModFix/>
          </a:blip>
          <a:stretch>
            <a:fillRect/>
          </a:stretch>
        </p:blipFill>
        <p:spPr>
          <a:xfrm>
            <a:off x="759775" y="649825"/>
            <a:ext cx="7747275" cy="40390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0"/>
          <p:cNvSpPr txBox="1"/>
          <p:nvPr>
            <p:ph type="ctrTitle"/>
          </p:nvPr>
        </p:nvSpPr>
        <p:spPr>
          <a:xfrm>
            <a:off x="247500" y="247738"/>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Hypothesis Test </a:t>
            </a:r>
            <a:endParaRPr/>
          </a:p>
        </p:txBody>
      </p:sp>
      <p:sp>
        <p:nvSpPr>
          <p:cNvPr id="327" name="Google Shape;327;p20"/>
          <p:cNvSpPr txBox="1"/>
          <p:nvPr/>
        </p:nvSpPr>
        <p:spPr>
          <a:xfrm>
            <a:off x="655900" y="3943675"/>
            <a:ext cx="6526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pic>
        <p:nvPicPr>
          <p:cNvPr id="328" name="Google Shape;328;p20"/>
          <p:cNvPicPr preferRelativeResize="0"/>
          <p:nvPr/>
        </p:nvPicPr>
        <p:blipFill>
          <a:blip r:embed="rId3">
            <a:alphaModFix/>
          </a:blip>
          <a:stretch>
            <a:fillRect/>
          </a:stretch>
        </p:blipFill>
        <p:spPr>
          <a:xfrm>
            <a:off x="231975" y="2120649"/>
            <a:ext cx="8680049" cy="2516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1"/>
          <p:cNvSpPr txBox="1"/>
          <p:nvPr>
            <p:ph type="ctrTitle"/>
          </p:nvPr>
        </p:nvSpPr>
        <p:spPr>
          <a:xfrm>
            <a:off x="824000" y="373063"/>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What are our findings?</a:t>
            </a:r>
            <a:endParaRPr/>
          </a:p>
        </p:txBody>
      </p:sp>
      <p:pic>
        <p:nvPicPr>
          <p:cNvPr id="334" name="Google Shape;334;p21"/>
          <p:cNvPicPr preferRelativeResize="0"/>
          <p:nvPr/>
        </p:nvPicPr>
        <p:blipFill>
          <a:blip r:embed="rId3">
            <a:alphaModFix/>
          </a:blip>
          <a:stretch>
            <a:fillRect/>
          </a:stretch>
        </p:blipFill>
        <p:spPr>
          <a:xfrm>
            <a:off x="4149750" y="882900"/>
            <a:ext cx="4917049" cy="3377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pic>
        <p:nvPicPr>
          <p:cNvPr id="339" name="Google Shape;339;p22"/>
          <p:cNvPicPr preferRelativeResize="0"/>
          <p:nvPr/>
        </p:nvPicPr>
        <p:blipFill>
          <a:blip r:embed="rId3">
            <a:alphaModFix/>
          </a:blip>
          <a:stretch>
            <a:fillRect/>
          </a:stretch>
        </p:blipFill>
        <p:spPr>
          <a:xfrm>
            <a:off x="192025" y="1512038"/>
            <a:ext cx="8626426" cy="21194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3"/>
          <p:cNvSpPr txBox="1"/>
          <p:nvPr>
            <p:ph type="ctrTitle"/>
          </p:nvPr>
        </p:nvSpPr>
        <p:spPr>
          <a:xfrm>
            <a:off x="723725" y="598675"/>
            <a:ext cx="48447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Confidence Interval</a:t>
            </a:r>
            <a:endParaRPr/>
          </a:p>
        </p:txBody>
      </p:sp>
      <p:pic>
        <p:nvPicPr>
          <p:cNvPr id="345" name="Google Shape;345;p23"/>
          <p:cNvPicPr preferRelativeResize="0"/>
          <p:nvPr/>
        </p:nvPicPr>
        <p:blipFill rotWithShape="1">
          <a:blip r:embed="rId3">
            <a:alphaModFix/>
          </a:blip>
          <a:srcRect b="0" l="0" r="0" t="6620"/>
          <a:stretch/>
        </p:blipFill>
        <p:spPr>
          <a:xfrm>
            <a:off x="1949925" y="3091450"/>
            <a:ext cx="4938050" cy="11335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